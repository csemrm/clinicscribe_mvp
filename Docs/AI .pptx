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8288000" cy="10287000"/>
  <p:notesSz cx="6858000" cy="9144000"/>
  <p:embeddedFontLst>
    <p:embeddedFont>
      <p:font typeface="Montserrat" pitchFamily="2" charset="77"/>
      <p:regular r:id="rId5"/>
    </p:embeddedFont>
    <p:embeddedFont>
      <p:font typeface="Montserrat Bold" pitchFamily="2" charset="77"/>
      <p:regular r:id="rId6"/>
      <p:bold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 autoAdjust="0"/>
    <p:restoredTop sz="69091" autoAdjust="0"/>
  </p:normalViewPr>
  <p:slideViewPr>
    <p:cSldViewPr>
      <p:cViewPr varScale="1">
        <p:scale>
          <a:sx n="46" d="100"/>
          <a:sy n="46" d="100"/>
        </p:scale>
        <p:origin x="210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bleStyles" Target="tableStyles.xml"/><Relationship Id="rId5" Type="http://schemas.openxmlformats.org/officeDocument/2006/relationships/font" Target="fonts/font1.fntdata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733D9-5707-B34C-95C0-5D4F916B45FF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CDAF6-3752-1748-A3EA-AB121355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956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Talk track:</a:t>
            </a:r>
            <a:endParaRPr lang="en-US" b="1" dirty="0">
              <a:effectLst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“Our domain is healthcare, and the biggest unmet needs are not always clinical—they’re operational.”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“First: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administrative overload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Doctors spend roughly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30–40%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their time on paperwork instead of patient care.” </a:t>
            </a:r>
          </a:p>
          <a:p>
            <a:pPr rtl="0" fontAlgn="base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“Second: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fragmented systems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EHRs, hospitals, and insurance platforms often don’t communicate, so staff do manual copy-paste and data transfer.” 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“Third: this drives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physician burnout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More non-clinical work reduces quality of care and increases costs.” 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“So the unmet need is clear: reduce administrative work so clinicians can focus on patients.”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 line to next slide:</a:t>
            </a:r>
            <a:endParaRPr lang="en-US" b="0" dirty="0">
              <a:effectLst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“Now let’s turn these unmet needs into a specific venture idea.”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CDAF6-3752-1748-A3EA-AB12135543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3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Talk track:</a:t>
            </a:r>
            <a:endParaRPr lang="en-US" b="1" dirty="0">
              <a:effectLst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“Our target customers are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clinics, hospitals, and outpatient medical practices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 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problem is that doctors and staff waste significant time on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documentation, forms, and insurance paperwork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 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opportunity is huge—there’s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$1T+ in annual administrative waste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healthcare. If we reduce admin workload by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30–50%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 can lower burnout, reduce costs, and improve patient care.” 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“Why AI? Modern LLMs can understand medical context and generate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 documentation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fill forms—this is process automation, not medical decision-making.” 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“And importantly, what the AI does and does not do: it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writes reports, fills forms, and transfers data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—but it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 not diagnose or make clinical decisions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keeping regulatory risk lower.” 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Closing line (optional):</a:t>
            </a:r>
            <a:endParaRPr lang="en-US" b="0" dirty="0">
              <a:effectLst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short: we’re building an administrative co-pilot that saves time, reduces burnout, and improves the business side of care—without practicing medicine.”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CDAF6-3752-1748-A3EA-AB12135543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51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989" b="-898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841195" y="2273076"/>
            <a:ext cx="11569372" cy="7328761"/>
            <a:chOff x="0" y="0"/>
            <a:chExt cx="3047077" cy="193020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47078" cy="1930209"/>
            </a:xfrm>
            <a:custGeom>
              <a:avLst/>
              <a:gdLst/>
              <a:ahLst/>
              <a:cxnLst/>
              <a:rect l="l" t="t" r="r" b="b"/>
              <a:pathLst>
                <a:path w="3047078" h="1930209">
                  <a:moveTo>
                    <a:pt x="34128" y="0"/>
                  </a:moveTo>
                  <a:lnTo>
                    <a:pt x="3012950" y="0"/>
                  </a:lnTo>
                  <a:cubicBezTo>
                    <a:pt x="3031798" y="0"/>
                    <a:pt x="3047078" y="15280"/>
                    <a:pt x="3047078" y="34128"/>
                  </a:cubicBezTo>
                  <a:lnTo>
                    <a:pt x="3047078" y="1896081"/>
                  </a:lnTo>
                  <a:cubicBezTo>
                    <a:pt x="3047078" y="1914929"/>
                    <a:pt x="3031798" y="1930209"/>
                    <a:pt x="3012950" y="1930209"/>
                  </a:cubicBezTo>
                  <a:lnTo>
                    <a:pt x="34128" y="1930209"/>
                  </a:lnTo>
                  <a:cubicBezTo>
                    <a:pt x="15280" y="1930209"/>
                    <a:pt x="0" y="1914929"/>
                    <a:pt x="0" y="1896081"/>
                  </a:cubicBezTo>
                  <a:lnTo>
                    <a:pt x="0" y="34128"/>
                  </a:lnTo>
                  <a:cubicBezTo>
                    <a:pt x="0" y="15280"/>
                    <a:pt x="15280" y="0"/>
                    <a:pt x="34128" y="0"/>
                  </a:cubicBezTo>
                  <a:close/>
                </a:path>
              </a:pathLst>
            </a:custGeom>
            <a:solidFill>
              <a:srgbClr val="DCE2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047077" cy="1968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736419" y="677760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62406" r="-3089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121690" y="2435236"/>
            <a:ext cx="10736786" cy="644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52"/>
              </a:lnSpc>
            </a:pPr>
            <a:r>
              <a:rPr lang="en-US" sz="3378" b="1" spc="-50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3 Unmet Needs</a:t>
            </a:r>
          </a:p>
          <a:p>
            <a:pPr algn="just">
              <a:lnSpc>
                <a:spcPts val="3952"/>
              </a:lnSpc>
            </a:pPr>
            <a:endParaRPr lang="en-US" sz="3378" b="1" spc="-50">
              <a:solidFill>
                <a:srgbClr val="101B4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729323" lvl="1" indent="-364662" algn="just">
              <a:lnSpc>
                <a:spcPts val="3952"/>
              </a:lnSpc>
              <a:buFont typeface="Arial"/>
              <a:buChar char="•"/>
            </a:pPr>
            <a:r>
              <a:rPr lang="en-US" sz="3378" spc="-50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Administrative overload for doctors</a:t>
            </a:r>
          </a:p>
          <a:p>
            <a:pPr marL="729323" lvl="1" indent="-364662" algn="just">
              <a:lnSpc>
                <a:spcPts val="3952"/>
              </a:lnSpc>
              <a:buFont typeface="Arial"/>
              <a:buChar char="•"/>
            </a:pPr>
            <a:r>
              <a:rPr lang="en-US" sz="3378" spc="-50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 Doctors spend 30–40% of their time on paperwork instead of patient care</a:t>
            </a:r>
          </a:p>
          <a:p>
            <a:pPr marL="729323" lvl="1" indent="-364662" algn="just">
              <a:lnSpc>
                <a:spcPts val="3952"/>
              </a:lnSpc>
              <a:buFont typeface="Arial"/>
              <a:buChar char="•"/>
            </a:pPr>
            <a:r>
              <a:rPr lang="en-US" sz="3378" spc="-50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Fragmented healthcare systems</a:t>
            </a:r>
          </a:p>
          <a:p>
            <a:pPr marL="729323" lvl="1" indent="-364662" algn="just">
              <a:lnSpc>
                <a:spcPts val="3952"/>
              </a:lnSpc>
              <a:buFont typeface="Arial"/>
              <a:buChar char="•"/>
            </a:pPr>
            <a:r>
              <a:rPr lang="en-US" sz="3378" spc="-50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 EHRs, hospitals, and insurance platforms do not communicate, requiring manual data transfer.</a:t>
            </a:r>
          </a:p>
          <a:p>
            <a:pPr marL="729323" lvl="1" indent="-364662" algn="just">
              <a:lnSpc>
                <a:spcPts val="3952"/>
              </a:lnSpc>
              <a:buFont typeface="Arial"/>
              <a:buChar char="•"/>
            </a:pPr>
            <a:r>
              <a:rPr lang="en-US" sz="3378" spc="-50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Physician burnout driven by non-clinical work</a:t>
            </a:r>
          </a:p>
          <a:p>
            <a:pPr marL="729323" lvl="1" indent="-364662" algn="just">
              <a:lnSpc>
                <a:spcPts val="3952"/>
              </a:lnSpc>
              <a:buFont typeface="Arial"/>
              <a:buChar char="•"/>
            </a:pPr>
            <a:r>
              <a:rPr lang="en-US" sz="3378" spc="-50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 Burnout reduces quality of care and increases costs</a:t>
            </a:r>
          </a:p>
          <a:p>
            <a:pPr algn="just">
              <a:lnSpc>
                <a:spcPts val="3952"/>
              </a:lnSpc>
            </a:pPr>
            <a:endParaRPr lang="en-US" sz="3378" spc="-50">
              <a:solidFill>
                <a:srgbClr val="101B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841195" y="188308"/>
            <a:ext cx="10171737" cy="1422320"/>
            <a:chOff x="0" y="0"/>
            <a:chExt cx="2678976" cy="3746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78976" cy="374603"/>
            </a:xfrm>
            <a:custGeom>
              <a:avLst/>
              <a:gdLst/>
              <a:ahLst/>
              <a:cxnLst/>
              <a:rect l="l" t="t" r="r" b="b"/>
              <a:pathLst>
                <a:path w="2678976" h="374603">
                  <a:moveTo>
                    <a:pt x="76112" y="0"/>
                  </a:moveTo>
                  <a:lnTo>
                    <a:pt x="2602864" y="0"/>
                  </a:lnTo>
                  <a:cubicBezTo>
                    <a:pt x="2623050" y="0"/>
                    <a:pt x="2642410" y="8019"/>
                    <a:pt x="2656684" y="22293"/>
                  </a:cubicBezTo>
                  <a:cubicBezTo>
                    <a:pt x="2670957" y="36566"/>
                    <a:pt x="2678976" y="55926"/>
                    <a:pt x="2678976" y="76112"/>
                  </a:cubicBezTo>
                  <a:lnTo>
                    <a:pt x="2678976" y="298491"/>
                  </a:lnTo>
                  <a:cubicBezTo>
                    <a:pt x="2678976" y="318677"/>
                    <a:pt x="2670957" y="338036"/>
                    <a:pt x="2656684" y="352310"/>
                  </a:cubicBezTo>
                  <a:cubicBezTo>
                    <a:pt x="2642410" y="366584"/>
                    <a:pt x="2623050" y="374603"/>
                    <a:pt x="2602864" y="374603"/>
                  </a:cubicBezTo>
                  <a:lnTo>
                    <a:pt x="76112" y="374603"/>
                  </a:lnTo>
                  <a:cubicBezTo>
                    <a:pt x="55926" y="374603"/>
                    <a:pt x="36566" y="366584"/>
                    <a:pt x="22293" y="352310"/>
                  </a:cubicBezTo>
                  <a:cubicBezTo>
                    <a:pt x="8019" y="338036"/>
                    <a:pt x="0" y="318677"/>
                    <a:pt x="0" y="298491"/>
                  </a:cubicBezTo>
                  <a:lnTo>
                    <a:pt x="0" y="76112"/>
                  </a:lnTo>
                  <a:cubicBezTo>
                    <a:pt x="0" y="55926"/>
                    <a:pt x="8019" y="36566"/>
                    <a:pt x="22293" y="22293"/>
                  </a:cubicBezTo>
                  <a:cubicBezTo>
                    <a:pt x="36566" y="8019"/>
                    <a:pt x="55926" y="0"/>
                    <a:pt x="7611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678976" cy="4317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71"/>
                </a:lnSpc>
              </a:pPr>
              <a:r>
                <a:rPr lang="en-US" sz="3051" b="1" spc="6">
                  <a:solidFill>
                    <a:srgbClr val="101B4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DOMAIN- HEALTHCARE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722" y="5255433"/>
            <a:ext cx="6985261" cy="1284883"/>
            <a:chOff x="0" y="0"/>
            <a:chExt cx="1839740" cy="3384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39739" cy="338406"/>
            </a:xfrm>
            <a:custGeom>
              <a:avLst/>
              <a:gdLst/>
              <a:ahLst/>
              <a:cxnLst/>
              <a:rect l="l" t="t" r="r" b="b"/>
              <a:pathLst>
                <a:path w="1839739" h="338406">
                  <a:moveTo>
                    <a:pt x="110832" y="0"/>
                  </a:moveTo>
                  <a:lnTo>
                    <a:pt x="1728907" y="0"/>
                  </a:lnTo>
                  <a:cubicBezTo>
                    <a:pt x="1790118" y="0"/>
                    <a:pt x="1839739" y="49621"/>
                    <a:pt x="1839739" y="110832"/>
                  </a:cubicBezTo>
                  <a:lnTo>
                    <a:pt x="1839739" y="227573"/>
                  </a:lnTo>
                  <a:cubicBezTo>
                    <a:pt x="1839739" y="256968"/>
                    <a:pt x="1828062" y="285158"/>
                    <a:pt x="1807277" y="305944"/>
                  </a:cubicBezTo>
                  <a:cubicBezTo>
                    <a:pt x="1786492" y="326729"/>
                    <a:pt x="1758302" y="338406"/>
                    <a:pt x="1728907" y="338406"/>
                  </a:cubicBezTo>
                  <a:lnTo>
                    <a:pt x="110832" y="338406"/>
                  </a:lnTo>
                  <a:cubicBezTo>
                    <a:pt x="81438" y="338406"/>
                    <a:pt x="53247" y="326729"/>
                    <a:pt x="32462" y="305944"/>
                  </a:cubicBezTo>
                  <a:cubicBezTo>
                    <a:pt x="11677" y="285158"/>
                    <a:pt x="0" y="256968"/>
                    <a:pt x="0" y="227573"/>
                  </a:cubicBezTo>
                  <a:lnTo>
                    <a:pt x="0" y="110832"/>
                  </a:lnTo>
                  <a:cubicBezTo>
                    <a:pt x="0" y="81438"/>
                    <a:pt x="11677" y="53247"/>
                    <a:pt x="32462" y="32462"/>
                  </a:cubicBezTo>
                  <a:cubicBezTo>
                    <a:pt x="53247" y="11677"/>
                    <a:pt x="81438" y="0"/>
                    <a:pt x="110832" y="0"/>
                  </a:cubicBezTo>
                  <a:close/>
                </a:path>
              </a:pathLst>
            </a:custGeom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39740" cy="3765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r>
                <a:rPr lang="en-US" sz="2051" b="1" spc="4">
                  <a:solidFill>
                    <a:srgbClr val="101B4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CUSTOMER </a:t>
              </a:r>
            </a:p>
            <a:p>
              <a:pPr algn="ctr">
                <a:lnSpc>
                  <a:spcPts val="2871"/>
                </a:lnSpc>
              </a:pPr>
              <a:r>
                <a:rPr lang="en-US" sz="2051" spc="4">
                  <a:solidFill>
                    <a:srgbClr val="101B4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CLINICS, HOSPITALS, OUTPATIENT MEDICAL PRACTICES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26689"/>
            <a:ext cx="15767813" cy="3912159"/>
            <a:chOff x="0" y="0"/>
            <a:chExt cx="2442847" cy="6060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2847" cy="606096"/>
            </a:xfrm>
            <a:custGeom>
              <a:avLst/>
              <a:gdLst/>
              <a:ahLst/>
              <a:cxnLst/>
              <a:rect l="l" t="t" r="r" b="b"/>
              <a:pathLst>
                <a:path w="2442847" h="606096">
                  <a:moveTo>
                    <a:pt x="15712" y="0"/>
                  </a:moveTo>
                  <a:lnTo>
                    <a:pt x="2427135" y="0"/>
                  </a:lnTo>
                  <a:cubicBezTo>
                    <a:pt x="2431302" y="0"/>
                    <a:pt x="2435299" y="1655"/>
                    <a:pt x="2438245" y="4602"/>
                  </a:cubicBezTo>
                  <a:cubicBezTo>
                    <a:pt x="2441192" y="7548"/>
                    <a:pt x="2442847" y="11545"/>
                    <a:pt x="2442847" y="15712"/>
                  </a:cubicBezTo>
                  <a:lnTo>
                    <a:pt x="2442847" y="590384"/>
                  </a:lnTo>
                  <a:cubicBezTo>
                    <a:pt x="2442847" y="594551"/>
                    <a:pt x="2441192" y="598547"/>
                    <a:pt x="2438245" y="601494"/>
                  </a:cubicBezTo>
                  <a:cubicBezTo>
                    <a:pt x="2435299" y="604440"/>
                    <a:pt x="2431302" y="606096"/>
                    <a:pt x="2427135" y="606096"/>
                  </a:cubicBezTo>
                  <a:lnTo>
                    <a:pt x="15712" y="606096"/>
                  </a:lnTo>
                  <a:cubicBezTo>
                    <a:pt x="11545" y="606096"/>
                    <a:pt x="7548" y="604440"/>
                    <a:pt x="4602" y="601494"/>
                  </a:cubicBezTo>
                  <a:cubicBezTo>
                    <a:pt x="1655" y="598547"/>
                    <a:pt x="0" y="594551"/>
                    <a:pt x="0" y="590384"/>
                  </a:cubicBezTo>
                  <a:lnTo>
                    <a:pt x="0" y="15712"/>
                  </a:lnTo>
                  <a:cubicBezTo>
                    <a:pt x="0" y="11545"/>
                    <a:pt x="1655" y="7548"/>
                    <a:pt x="4602" y="4602"/>
                  </a:cubicBezTo>
                  <a:cubicBezTo>
                    <a:pt x="7548" y="1655"/>
                    <a:pt x="11545" y="0"/>
                    <a:pt x="15712" y="0"/>
                  </a:cubicBezTo>
                  <a:close/>
                </a:path>
              </a:pathLst>
            </a:custGeom>
            <a:blipFill>
              <a:blip r:embed="rId3"/>
              <a:stretch>
                <a:fillRect t="-126972" b="-4155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559759" y="341472"/>
            <a:ext cx="1822999" cy="182299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30194" y="911906"/>
            <a:ext cx="682130" cy="68213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7722" y="6997020"/>
            <a:ext cx="6985261" cy="1646833"/>
            <a:chOff x="0" y="0"/>
            <a:chExt cx="1839740" cy="43373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39739" cy="433734"/>
            </a:xfrm>
            <a:custGeom>
              <a:avLst/>
              <a:gdLst/>
              <a:ahLst/>
              <a:cxnLst/>
              <a:rect l="l" t="t" r="r" b="b"/>
              <a:pathLst>
                <a:path w="1839739" h="433734">
                  <a:moveTo>
                    <a:pt x="110832" y="0"/>
                  </a:moveTo>
                  <a:lnTo>
                    <a:pt x="1728907" y="0"/>
                  </a:lnTo>
                  <a:cubicBezTo>
                    <a:pt x="1790118" y="0"/>
                    <a:pt x="1839739" y="49621"/>
                    <a:pt x="1839739" y="110832"/>
                  </a:cubicBezTo>
                  <a:lnTo>
                    <a:pt x="1839739" y="322902"/>
                  </a:lnTo>
                  <a:cubicBezTo>
                    <a:pt x="1839739" y="352296"/>
                    <a:pt x="1828062" y="380487"/>
                    <a:pt x="1807277" y="401272"/>
                  </a:cubicBezTo>
                  <a:cubicBezTo>
                    <a:pt x="1786492" y="422057"/>
                    <a:pt x="1758302" y="433734"/>
                    <a:pt x="1728907" y="433734"/>
                  </a:cubicBezTo>
                  <a:lnTo>
                    <a:pt x="110832" y="433734"/>
                  </a:lnTo>
                  <a:cubicBezTo>
                    <a:pt x="81438" y="433734"/>
                    <a:pt x="53247" y="422057"/>
                    <a:pt x="32462" y="401272"/>
                  </a:cubicBezTo>
                  <a:cubicBezTo>
                    <a:pt x="11677" y="380487"/>
                    <a:pt x="0" y="352296"/>
                    <a:pt x="0" y="322902"/>
                  </a:cubicBezTo>
                  <a:lnTo>
                    <a:pt x="0" y="110832"/>
                  </a:lnTo>
                  <a:cubicBezTo>
                    <a:pt x="0" y="81438"/>
                    <a:pt x="11677" y="53247"/>
                    <a:pt x="32462" y="32462"/>
                  </a:cubicBezTo>
                  <a:cubicBezTo>
                    <a:pt x="53247" y="11677"/>
                    <a:pt x="81438" y="0"/>
                    <a:pt x="110832" y="0"/>
                  </a:cubicBezTo>
                  <a:close/>
                </a:path>
              </a:pathLst>
            </a:custGeom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839740" cy="4718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r>
                <a:rPr lang="en-US" sz="2051" b="1" spc="4">
                  <a:solidFill>
                    <a:srgbClr val="101B4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PROBLEM</a:t>
              </a:r>
            </a:p>
            <a:p>
              <a:pPr algn="ctr">
                <a:lnSpc>
                  <a:spcPts val="2871"/>
                </a:lnSpc>
              </a:pPr>
              <a:r>
                <a:rPr lang="en-US" sz="2051" spc="4">
                  <a:solidFill>
                    <a:srgbClr val="101B4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DOCTORS AND STAFF WASTE SIGNIFICANT TIME ON DOCUMENTATION, FORMS, AND INSURANCE PAPERWORK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342485" y="4692190"/>
            <a:ext cx="9469839" cy="1646833"/>
            <a:chOff x="0" y="0"/>
            <a:chExt cx="2494114" cy="4337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94114" cy="433734"/>
            </a:xfrm>
            <a:custGeom>
              <a:avLst/>
              <a:gdLst/>
              <a:ahLst/>
              <a:cxnLst/>
              <a:rect l="l" t="t" r="r" b="b"/>
              <a:pathLst>
                <a:path w="2494114" h="433734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351980"/>
                  </a:lnTo>
                  <a:cubicBezTo>
                    <a:pt x="2494114" y="397132"/>
                    <a:pt x="2457512" y="433734"/>
                    <a:pt x="2412360" y="433734"/>
                  </a:cubicBezTo>
                  <a:lnTo>
                    <a:pt x="81753" y="433734"/>
                  </a:lnTo>
                  <a:cubicBezTo>
                    <a:pt x="36602" y="433734"/>
                    <a:pt x="0" y="397132"/>
                    <a:pt x="0" y="351980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494114" cy="4718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r>
                <a:rPr lang="en-US" sz="2051" b="1" spc="4">
                  <a:solidFill>
                    <a:srgbClr val="101B4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OPPORTUNITY</a:t>
              </a:r>
            </a:p>
            <a:p>
              <a:pPr marL="442888" lvl="1" indent="-221444" algn="ctr">
                <a:lnSpc>
                  <a:spcPts val="2871"/>
                </a:lnSpc>
                <a:buFont typeface="Arial"/>
                <a:buChar char="•"/>
              </a:pPr>
              <a:r>
                <a:rPr lang="en-US" sz="2051" spc="4">
                  <a:solidFill>
                    <a:srgbClr val="101B4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$1T+ ANNUAL ADMINISTRATIVE WASTE IN HEALTHCARE</a:t>
              </a:r>
            </a:p>
            <a:p>
              <a:pPr marL="442888" lvl="1" indent="-221444" algn="ctr">
                <a:lnSpc>
                  <a:spcPts val="2871"/>
                </a:lnSpc>
                <a:buFont typeface="Arial"/>
                <a:buChar char="•"/>
              </a:pPr>
              <a:r>
                <a:rPr lang="en-US" sz="2051" spc="4">
                  <a:solidFill>
                    <a:srgbClr val="101B4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REDUCE ADMIN WORKLOAD BY 30–50%</a:t>
              </a:r>
            </a:p>
            <a:p>
              <a:pPr marL="442888" lvl="1" indent="-221444" algn="ctr">
                <a:lnSpc>
                  <a:spcPts val="2871"/>
                </a:lnSpc>
                <a:buFont typeface="Arial"/>
                <a:buChar char="•"/>
              </a:pPr>
              <a:r>
                <a:rPr lang="en-US" sz="2051" spc="4">
                  <a:solidFill>
                    <a:srgbClr val="101B4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LOWER BURNOUT, LOWER COSTS, BETTER PATIENT CARE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56998" y="6540316"/>
            <a:ext cx="9469839" cy="3094633"/>
            <a:chOff x="0" y="0"/>
            <a:chExt cx="2494114" cy="81504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94114" cy="815048"/>
            </a:xfrm>
            <a:custGeom>
              <a:avLst/>
              <a:gdLst/>
              <a:ahLst/>
              <a:cxnLst/>
              <a:rect l="l" t="t" r="r" b="b"/>
              <a:pathLst>
                <a:path w="2494114" h="815048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733294"/>
                  </a:lnTo>
                  <a:cubicBezTo>
                    <a:pt x="2494114" y="778445"/>
                    <a:pt x="2457512" y="815048"/>
                    <a:pt x="2412360" y="815048"/>
                  </a:cubicBezTo>
                  <a:lnTo>
                    <a:pt x="81753" y="815048"/>
                  </a:lnTo>
                  <a:cubicBezTo>
                    <a:pt x="36602" y="815048"/>
                    <a:pt x="0" y="778445"/>
                    <a:pt x="0" y="733294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ln w="38100" cap="rnd">
              <a:solidFill>
                <a:srgbClr val="101B4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494114" cy="853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r>
                <a:rPr lang="en-US" sz="2051" b="1" spc="4">
                  <a:solidFill>
                    <a:srgbClr val="101B4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WHY AI</a:t>
              </a:r>
            </a:p>
            <a:p>
              <a:pPr marL="442888" lvl="1" indent="-221444" algn="ctr">
                <a:lnSpc>
                  <a:spcPts val="2871"/>
                </a:lnSpc>
                <a:buFont typeface="Arial"/>
                <a:buChar char="•"/>
              </a:pPr>
              <a:r>
                <a:rPr lang="en-US" sz="2051" spc="4">
                  <a:solidFill>
                    <a:srgbClr val="101B4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MODERN LLMS UNDERSTAND MEDICAL CONTEXT</a:t>
              </a:r>
            </a:p>
            <a:p>
              <a:pPr marL="442888" lvl="1" indent="-221444" algn="ctr">
                <a:lnSpc>
                  <a:spcPts val="2871"/>
                </a:lnSpc>
                <a:buFont typeface="Arial"/>
                <a:buChar char="•"/>
              </a:pPr>
              <a:r>
                <a:rPr lang="en-US" sz="2051" spc="4">
                  <a:solidFill>
                    <a:srgbClr val="101B4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CAN GENERATE STRUCTURED DOCUMENTATION AND FILL FORMS</a:t>
              </a:r>
            </a:p>
            <a:p>
              <a:pPr marL="442888" lvl="1" indent="-221444" algn="ctr">
                <a:lnSpc>
                  <a:spcPts val="2871"/>
                </a:lnSpc>
                <a:buFont typeface="Arial"/>
                <a:buChar char="•"/>
              </a:pPr>
              <a:r>
                <a:rPr lang="en-US" sz="2051" spc="4">
                  <a:solidFill>
                    <a:srgbClr val="101B4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IDEAL FOR PROCESS AUTOMATION, NOT MEDICAL DECISION-MAKING</a:t>
              </a:r>
            </a:p>
            <a:p>
              <a:pPr marL="442888" lvl="1" indent="-221444" algn="ctr">
                <a:lnSpc>
                  <a:spcPts val="2871"/>
                </a:lnSpc>
                <a:buFont typeface="Arial"/>
                <a:buChar char="•"/>
              </a:pPr>
              <a:r>
                <a:rPr lang="en-US" sz="2051" spc="4">
                  <a:solidFill>
                    <a:srgbClr val="101B4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LOW REGULATORY RISK (NO DIAGNOSIS, NO CLINICAL JUDGMENT)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359471" y="8839320"/>
            <a:ext cx="424721" cy="1305713"/>
          </a:xfrm>
          <a:custGeom>
            <a:avLst/>
            <a:gdLst/>
            <a:ahLst/>
            <a:cxnLst/>
            <a:rect l="l" t="t" r="r" b="b"/>
            <a:pathLst>
              <a:path w="424721" h="1305713">
                <a:moveTo>
                  <a:pt x="0" y="0"/>
                </a:moveTo>
                <a:lnTo>
                  <a:pt x="424721" y="0"/>
                </a:lnTo>
                <a:lnTo>
                  <a:pt x="424721" y="1305713"/>
                </a:lnTo>
                <a:lnTo>
                  <a:pt x="0" y="13057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268065" y="490855"/>
            <a:ext cx="5599757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spc="-185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Venture Idea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1004" y="1540137"/>
            <a:ext cx="9157891" cy="2432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2"/>
              </a:lnSpc>
            </a:pPr>
            <a:r>
              <a:rPr lang="en-US" sz="6957" b="1" spc="-403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Medical Administrative Assistant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4192" y="9062954"/>
            <a:ext cx="6801743" cy="96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AI DOES / DOES NOT DO</a:t>
            </a:r>
          </a:p>
          <a:p>
            <a:pPr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✅ WRITES REPORTS, FILLS FORMS, TRANSFERS DATA</a:t>
            </a:r>
          </a:p>
          <a:p>
            <a:pPr algn="ctr">
              <a:lnSpc>
                <a:spcPts val="2591"/>
              </a:lnSpc>
              <a:spcBef>
                <a:spcPct val="0"/>
              </a:spcBef>
            </a:pPr>
            <a:r>
              <a:rPr lang="en-US" sz="1851" spc="3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 ❌ DOES NOT DIAGNOSE OR MAKE CLINICAL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486</Words>
  <Application>Microsoft Macintosh PowerPoint</Application>
  <PresentationFormat>Custom</PresentationFormat>
  <Paragraphs>46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Montserrat</vt:lpstr>
      <vt:lpstr>Montserrat Bold</vt:lpstr>
      <vt:lpstr>Arial</vt:lpstr>
      <vt:lpstr>Calibri</vt:lpstr>
      <vt:lpstr>Aptos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Artificial Intelligence Presentation</dc:title>
  <cp:lastModifiedBy>164069rm</cp:lastModifiedBy>
  <cp:revision>2</cp:revision>
  <dcterms:created xsi:type="dcterms:W3CDTF">2006-08-16T00:00:00Z</dcterms:created>
  <dcterms:modified xsi:type="dcterms:W3CDTF">2026-02-04T03:48:41Z</dcterms:modified>
  <dc:identifier>DAHAT30BD60</dc:identifier>
</cp:coreProperties>
</file>